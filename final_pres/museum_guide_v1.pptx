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54BF9F1-641F-48ED-F53F-5B765A1F0319}">
          <p14:sldIdLst>
            <p14:sldId id="256"/>
            <p14:sldId id="257"/>
          </p14:sldIdLst>
        </p14:section>
        <p14:section name="Data" id="{8B64A191-9F4F-F2B8-611D-66BEA65B8D6A}">
          <p14:sldIdLst>
            <p14:sldId id="258"/>
          </p14:sldIdLst>
        </p14:section>
        <p14:section name="Models" id="{14B5747E-37FA-DD69-D3AC-617C32984856}">
          <p14:sldIdLst>
            <p14:sldId id="259"/>
            <p14:sldId id="260"/>
            <p14:sldId id="261"/>
            <p14:sldId id="262"/>
          </p14:sldIdLst>
        </p14:section>
        <p14:section name="Answer" id="{023D00A6-7247-7190-0B78-59A87FB4CACF}">
          <p14:sldIdLst>
            <p14:sldId id="263"/>
            <p14:sldId id="264"/>
            <p14:sldId id="265"/>
            <p14:sldId id="266"/>
          </p14:sldIdLst>
        </p14:section>
        <p14:section name="Backup" id="{72C1DF21-6273-C412-45FE-6D19E39629E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3A55"/>
                </a:solidFill>
                <a:latin typeface="+mn-lt"/>
              </a:defRPr>
            </a:pPr>
            <a:r>
              <a:rPr lang="fr-FR" sz="1400" b="0" i="0" u="none" strike="noStrike">
                <a:solidFill>
                  <a:srgbClr val="2B3A55"/>
                </a:solidFill>
                <a:latin typeface="+mn-lt"/>
              </a:rPr>
              <a:t>Test accuracy (250 paintings)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2A7F7A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430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chance</c:v>
                </c:pt>
                <c:pt idx="1">
                  <c:v>1 sigmoid layer</c:v>
                </c:pt>
                <c:pt idx="2">
                  <c:v>3 ReLU layers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</c:v>
                </c:pt>
                <c:pt idx="1">
                  <c:v>0.28399999999999997</c:v>
                </c:pt>
                <c:pt idx="2">
                  <c:v>0.35599999999999998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DA-BA4D-B402-A4B0480815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3A55"/>
                </a:solidFill>
                <a:latin typeface="+mn-lt"/>
              </a:defRPr>
            </a:pPr>
            <a:r>
              <a:rPr lang="fr-FR" sz="1400" b="0" i="0" u="none" strike="noStrike">
                <a:solidFill>
                  <a:srgbClr val="2B3A55"/>
                </a:solidFill>
                <a:latin typeface="+mn-lt"/>
              </a:rPr>
              <a:t>Test accuracy (chance 0.20)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2A7F7A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430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MLP 1 sigmoid</c:v>
                </c:pt>
                <c:pt idx="1">
                  <c:v>MLP 3 ReLU</c:v>
                </c:pt>
                <c:pt idx="2">
                  <c:v>LogReg pixels</c:v>
                </c:pt>
                <c:pt idx="3">
                  <c:v>MLP + weight decay</c:v>
                </c:pt>
                <c:pt idx="4">
                  <c:v>LogReg colours</c:v>
                </c:pt>
                <c:pt idx="5">
                  <c:v>LogReg ResNet feats</c:v>
                </c:pt>
                <c:pt idx="6">
                  <c:v>ResNet head</c:v>
                </c:pt>
                <c:pt idx="7">
                  <c:v>ResNet layer4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0.28399999999999997</c:v>
                </c:pt>
                <c:pt idx="1">
                  <c:v>0.35599999999999998</c:v>
                </c:pt>
                <c:pt idx="2">
                  <c:v>0.35599999999999998</c:v>
                </c:pt>
                <c:pt idx="3">
                  <c:v>0.39200000000000002</c:v>
                </c:pt>
                <c:pt idx="4">
                  <c:v>0.42799999999999999</c:v>
                </c:pt>
                <c:pt idx="5">
                  <c:v>0.72799999999999998</c:v>
                </c:pt>
                <c:pt idx="6">
                  <c:v>0.73199999999999998</c:v>
                </c:pt>
                <c:pt idx="7">
                  <c:v>0.77600000000000002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3E-6A45-81EE-B2EBC46C86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65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Chanelle (30 s). Introduce the museum, the kiosks and the director's question. Remove the draft note before the 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Chanelle (1 min). Give the answer first, the rest of the talk shows how we got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Chanelle (1 min 30). Why split by artist: otherwise the model can recognise Rubens instead of Baroque.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Luli (1 min 30). The MLP sees pixels without any notion of neighbourhood, so it learns colours more than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Luli (2 min). Show one learning curve if there is time. Be honest about the test-set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Rania (1 min 30). This is the director's question: a classical model is enough to replace the MLP, not the ResNet.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Wei-Ling (2 min). Show the confusion matrix from resnet.ipynb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Rania (1 min 30). Read the chart from bottom to top: a jump of 30 points comes only with pretrained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Wei-Ling (1 min 30). The guardrail matters more to a visitor than one more point of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Chanelle (1 min). Optional part: the professor wants the vision part first. Keep it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Chanelle (1 min). End on the next step: test on photos taken with a phone in the galleries. Then questions (5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 for the team, remove it from the final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Museum guide · Neural Networks · Albert School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Museum guide: is a neural network worth it on a kiosk?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Recognising the style of a painting (WikiArt) on modest CPUs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Chanelle · Luli · Wei-Ling · Rania · 28/10/2026</a:t>
            </a:r>
            <a:endParaRPr lang="en-US" sz="1800" dirty="0"/>
          </a:p>
        </p:txBody>
      </p:sp>
      <p:sp>
        <p:nvSpPr>
          <p:cNvPr id="4" name="draft note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First version. </a:t>
            </a:r>
            <a:r>
              <a:rPr lang="en-US" sz="1400" b="1" dirty="0">
                <a:solidFill>
                  <a:srgbClr val="FF8A80"/>
                </a:solidFill>
              </a:rPr>
              <a:t>Red</a:t>
            </a:r>
            <a:r>
              <a:rPr lang="en-US" sz="1400" dirty="0">
                <a:solidFill>
                  <a:srgbClr val="FFFFFF"/>
                </a:solidFill>
              </a:rPr>
              <a:t> = number that differs between notebooks, </a:t>
            </a:r>
            <a:r>
              <a:rPr lang="en-US" sz="1400" dirty="0">
                <a:solidFill>
                  <a:srgbClr val="1F2430"/>
                </a:solidFill>
                <a:highlight>
                  <a:srgbClr val="FFFF00"/>
                </a:highlight>
              </a:rPr>
              <a:t>highlighted</a:t>
            </a:r>
            <a:r>
              <a:rPr lang="en-US" sz="1400" dirty="0">
                <a:solidFill>
                  <a:srgbClr val="FFFFFF"/>
                </a:solidFill>
              </a:rPr>
              <a:t> = to check or fill.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Our answer: yes, but a pretrained network, not the MLP</a:t>
            </a:r>
            <a:endParaRPr lang="en-US" sz="3000" dirty="0"/>
          </a:p>
        </p:txBody>
      </p:sp>
      <p:sp>
        <p:nvSpPr>
          <p:cNvPr id="3" name="acc value"/>
          <p:cNvSpPr txBox="1"/>
          <p:nvPr/>
        </p:nvSpPr>
        <p:spPr>
          <a:xfrm>
            <a:off x="731520" y="1554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0.776</a:t>
            </a:r>
            <a:endParaRPr lang="en-US" sz="4800" dirty="0"/>
          </a:p>
        </p:txBody>
      </p:sp>
      <p:sp>
        <p:nvSpPr>
          <p:cNvPr id="4" name="acc label"/>
          <p:cNvSpPr txBox="1"/>
          <p:nvPr/>
        </p:nvSpPr>
        <p:spPr>
          <a:xfrm>
            <a:off x="731520" y="2468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test accuracy, fine-tuned ResNet-18 (chance 0.20)</a:t>
            </a:r>
            <a:endParaRPr lang="en-US" sz="1400" dirty="0"/>
          </a:p>
        </p:txBody>
      </p:sp>
      <p:sp>
        <p:nvSpPr>
          <p:cNvPr id="5" name="lat value"/>
          <p:cNvSpPr txBox="1"/>
          <p:nvPr/>
        </p:nvSpPr>
        <p:spPr>
          <a:xfrm>
            <a:off x="4389120" y="1554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ms</a:t>
            </a:r>
            <a:endParaRPr lang="en-US" sz="4800" dirty="0"/>
          </a:p>
        </p:txBody>
      </p:sp>
      <p:sp>
        <p:nvSpPr>
          <p:cNvPr id="6" name="lat label"/>
          <p:cNvSpPr txBox="1"/>
          <p:nvPr/>
        </p:nvSpPr>
        <p:spPr>
          <a:xfrm>
            <a:off x="4389120" y="2468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per painting on 1 CPU core (</a:t>
            </a:r>
            <a:r>
              <a:rPr lang="en-US" sz="1400" b="1" dirty="0">
                <a:solidFill>
                  <a:srgbClr val="C0392B"/>
                </a:solidFill>
              </a:rPr>
              <a:t>25.4 ms in resnet.ipynb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endParaRPr lang="en-US" sz="1400" dirty="0"/>
          </a:p>
        </p:txBody>
      </p:sp>
      <p:sp>
        <p:nvSpPr>
          <p:cNvPr id="7" name="size value"/>
          <p:cNvSpPr txBox="1"/>
          <p:nvPr/>
        </p:nvSpPr>
        <p:spPr>
          <a:xfrm>
            <a:off x="8046720" y="1554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MB</a:t>
            </a:r>
            <a:endParaRPr lang="en-US" sz="4800" dirty="0"/>
          </a:p>
        </p:txBody>
      </p:sp>
      <p:sp>
        <p:nvSpPr>
          <p:cNvPr id="8" name="size label"/>
          <p:cNvSpPr txBox="1"/>
          <p:nvPr/>
        </p:nvSpPr>
        <p:spPr>
          <a:xfrm>
            <a:off x="8046720" y="2468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 disk: fits on a modest kiosk, no GPU</a:t>
            </a:r>
            <a:endParaRPr lang="en-US" sz="1400" dirty="0"/>
          </a:p>
        </p:txBody>
      </p:sp>
      <p:sp>
        <p:nvSpPr>
          <p:cNvPr id="9" name="summary card"/>
          <p:cNvSpPr/>
          <p:nvPr/>
        </p:nvSpPr>
        <p:spPr>
          <a:xfrm>
            <a:off x="731520" y="3931920"/>
            <a:ext cx="106984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ummary"/>
          <p:cNvSpPr txBox="1"/>
          <p:nvPr/>
        </p:nvSpPr>
        <p:spPr>
          <a:xfrm>
            <a:off x="1005840" y="4114800"/>
            <a:ext cx="10149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MLP from scratch reaches </a:t>
            </a:r>
            <a:r>
              <a:rPr lang="en-US" sz="1600" b="1" dirty="0">
                <a:solidFill>
                  <a:srgbClr val="C0392B"/>
                </a:solidFill>
              </a:rPr>
              <a:t>0.392</a:t>
            </a:r>
            <a:r>
              <a:rPr lang="en-US" sz="1600" dirty="0">
                <a:solidFill>
                  <a:schemeClr val="tx1"/>
                </a:solidFill>
              </a:rPr>
              <a:t>: no better than a colour histogram without any network (0.428)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ResNet-18 with transfer learning: +35 points over the best classical model, for about 25x the CPU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With a confidence threshold, the guide says "not sure" instead of being wrong</a:t>
            </a:r>
            <a:endParaRPr lang="en-US" sz="1600" dirty="0"/>
          </a:p>
        </p:txBody>
      </p:sp>
      <p:sp>
        <p:nvSpPr>
          <p:cNvPr id="11" name="legend"/>
          <p:cNvSpPr txBox="1"/>
          <p:nvPr/>
        </p:nvSpPr>
        <p:spPr>
          <a:xfrm>
            <a:off x="6675120" y="64008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392B"/>
                </a:solidFill>
              </a:rPr>
              <a:t>■ </a:t>
            </a:r>
            <a:r>
              <a:rPr lang="en-US" sz="1000" dirty="0">
                <a:solidFill>
                  <a:srgbClr val="1F2430"/>
                </a:solidFill>
              </a:rPr>
              <a:t>red: differs between notebooks   </a:t>
            </a:r>
            <a:r>
              <a:rPr lang="en-US" sz="1000" dirty="0">
                <a:solidFill>
                  <a:srgbClr val="000000"/>
                </a:solidFill>
                <a:highlight>
                  <a:srgbClr val="FFFF00"/>
                </a:highlight>
              </a:rPr>
              <a:t>check</a:t>
            </a:r>
            <a:r>
              <a:rPr lang="en-US" sz="1000" dirty="0">
                <a:solidFill>
                  <a:srgbClr val="1F2430"/>
                </a:solidFill>
              </a:rPr>
              <a:t>: to verify / fill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Data: 1 500 WikiArt paintings, split by artist</a:t>
            </a:r>
            <a:endParaRPr lang="en-US" sz="3000" dirty="0"/>
          </a:p>
        </p:txBody>
      </p:sp>
      <p:sp>
        <p:nvSpPr>
          <p:cNvPr id="3" name="Baroque dot"/>
          <p:cNvSpPr/>
          <p:nvPr/>
        </p:nvSpPr>
        <p:spPr>
          <a:xfrm>
            <a:off x="1234440" y="14173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Baroque count"/>
          <p:cNvSpPr txBox="1"/>
          <p:nvPr/>
        </p:nvSpPr>
        <p:spPr>
          <a:xfrm>
            <a:off x="123444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300</a:t>
            </a:r>
            <a:endParaRPr lang="en-US" sz="1800" dirty="0"/>
          </a:p>
        </p:txBody>
      </p:sp>
      <p:sp>
        <p:nvSpPr>
          <p:cNvPr id="5" name="Baroque name"/>
          <p:cNvSpPr txBox="1"/>
          <p:nvPr/>
        </p:nvSpPr>
        <p:spPr>
          <a:xfrm>
            <a:off x="73152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Baroque</a:t>
            </a:r>
            <a:endParaRPr lang="en-US" sz="1600" dirty="0"/>
          </a:p>
        </p:txBody>
      </p:sp>
      <p:sp>
        <p:nvSpPr>
          <p:cNvPr id="6" name="Cubism dot"/>
          <p:cNvSpPr/>
          <p:nvPr/>
        </p:nvSpPr>
        <p:spPr>
          <a:xfrm>
            <a:off x="3410712" y="14173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Cubism count"/>
          <p:cNvSpPr txBox="1"/>
          <p:nvPr/>
        </p:nvSpPr>
        <p:spPr>
          <a:xfrm>
            <a:off x="3410712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300</a:t>
            </a:r>
            <a:endParaRPr lang="en-US" sz="1800" dirty="0"/>
          </a:p>
        </p:txBody>
      </p:sp>
      <p:sp>
        <p:nvSpPr>
          <p:cNvPr id="8" name="Cubism name"/>
          <p:cNvSpPr txBox="1"/>
          <p:nvPr/>
        </p:nvSpPr>
        <p:spPr>
          <a:xfrm>
            <a:off x="2907792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Cubism</a:t>
            </a:r>
            <a:endParaRPr lang="en-US" sz="1600" dirty="0"/>
          </a:p>
        </p:txBody>
      </p:sp>
      <p:sp>
        <p:nvSpPr>
          <p:cNvPr id="9" name="Impressionism dot"/>
          <p:cNvSpPr/>
          <p:nvPr/>
        </p:nvSpPr>
        <p:spPr>
          <a:xfrm>
            <a:off x="5586984" y="141732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Impressionism count"/>
          <p:cNvSpPr txBox="1"/>
          <p:nvPr/>
        </p:nvSpPr>
        <p:spPr>
          <a:xfrm>
            <a:off x="5586984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300</a:t>
            </a:r>
            <a:endParaRPr lang="en-US" sz="1800" dirty="0"/>
          </a:p>
        </p:txBody>
      </p:sp>
      <p:sp>
        <p:nvSpPr>
          <p:cNvPr id="11" name="Impressionism name"/>
          <p:cNvSpPr txBox="1"/>
          <p:nvPr/>
        </p:nvSpPr>
        <p:spPr>
          <a:xfrm>
            <a:off x="5084064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Impressionism</a:t>
            </a:r>
            <a:endParaRPr lang="en-US" sz="1600" dirty="0"/>
          </a:p>
        </p:txBody>
      </p:sp>
      <p:sp>
        <p:nvSpPr>
          <p:cNvPr id="12" name="Pop Art dot"/>
          <p:cNvSpPr/>
          <p:nvPr/>
        </p:nvSpPr>
        <p:spPr>
          <a:xfrm>
            <a:off x="7763256" y="141732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Pop Art count"/>
          <p:cNvSpPr txBox="1"/>
          <p:nvPr/>
        </p:nvSpPr>
        <p:spPr>
          <a:xfrm>
            <a:off x="7763256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300</a:t>
            </a:r>
            <a:endParaRPr lang="en-US" sz="1800" dirty="0"/>
          </a:p>
        </p:txBody>
      </p:sp>
      <p:sp>
        <p:nvSpPr>
          <p:cNvPr id="14" name="Pop Art name"/>
          <p:cNvSpPr txBox="1"/>
          <p:nvPr/>
        </p:nvSpPr>
        <p:spPr>
          <a:xfrm>
            <a:off x="7260336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Pop Art</a:t>
            </a:r>
            <a:endParaRPr lang="en-US" sz="1600" dirty="0"/>
          </a:p>
        </p:txBody>
      </p:sp>
      <p:sp>
        <p:nvSpPr>
          <p:cNvPr id="15" name="Ukiyo-e dot"/>
          <p:cNvSpPr/>
          <p:nvPr/>
        </p:nvSpPr>
        <p:spPr>
          <a:xfrm>
            <a:off x="9939528" y="141732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Ukiyo-e count"/>
          <p:cNvSpPr txBox="1"/>
          <p:nvPr/>
        </p:nvSpPr>
        <p:spPr>
          <a:xfrm>
            <a:off x="9939528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300</a:t>
            </a:r>
            <a:endParaRPr lang="en-US" sz="1800" dirty="0"/>
          </a:p>
        </p:txBody>
      </p:sp>
      <p:sp>
        <p:nvSpPr>
          <p:cNvPr id="17" name="Ukiyo-e name"/>
          <p:cNvSpPr txBox="1"/>
          <p:nvPr/>
        </p:nvSpPr>
        <p:spPr>
          <a:xfrm>
            <a:off x="9436608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Ukiyo-e</a:t>
            </a:r>
            <a:endParaRPr lang="en-US" sz="1600" dirty="0"/>
          </a:p>
        </p:txBody>
      </p:sp>
      <p:sp>
        <p:nvSpPr>
          <p:cNvPr id="18" name="subset card"/>
          <p:cNvSpPr/>
          <p:nvPr/>
        </p:nvSpPr>
        <p:spPr>
          <a:xfrm>
            <a:off x="731520" y="3154680"/>
            <a:ext cx="52120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ubset title"/>
          <p:cNvSpPr txBox="1"/>
          <p:nvPr/>
        </p:nvSpPr>
        <p:spPr>
          <a:xfrm>
            <a:off x="960120" y="3337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subset</a:t>
            </a:r>
            <a:endParaRPr lang="en-US" sz="1800" dirty="0"/>
          </a:p>
        </p:txBody>
      </p:sp>
      <p:sp>
        <p:nvSpPr>
          <p:cNvPr id="20" name="subset body"/>
          <p:cNvSpPr txBox="1"/>
          <p:nvPr/>
        </p:nvSpPr>
        <p:spPr>
          <a:xfrm>
            <a:off x="960120" y="3840480"/>
            <a:ext cx="4754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5 styles x 300 paintings, 128 x 128 px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Built with the course script make_wikiart_subset.py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At most 50 paintings per artist</a:t>
            </a:r>
            <a:endParaRPr lang="en-US" sz="1500" dirty="0"/>
          </a:p>
        </p:txBody>
      </p:sp>
      <p:sp>
        <p:nvSpPr>
          <p:cNvPr id="21" name="split card"/>
          <p:cNvSpPr/>
          <p:nvPr/>
        </p:nvSpPr>
        <p:spPr>
          <a:xfrm>
            <a:off x="6217920" y="3154680"/>
            <a:ext cx="52120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plit title"/>
          <p:cNvSpPr txBox="1"/>
          <p:nvPr/>
        </p:nvSpPr>
        <p:spPr>
          <a:xfrm>
            <a:off x="6446520" y="3337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One shared split for all models</a:t>
            </a:r>
            <a:endParaRPr lang="en-US" sz="1800" dirty="0"/>
          </a:p>
        </p:txBody>
      </p:sp>
      <p:sp>
        <p:nvSpPr>
          <p:cNvPr id="23" name="split body"/>
          <p:cNvSpPr txBox="1"/>
          <p:nvPr/>
        </p:nvSpPr>
        <p:spPr>
          <a:xfrm>
            <a:off x="6446520" y="3840480"/>
            <a:ext cx="4754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1 000 train / 250 validation / 250 test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Grouped by artist: a painter is never on both sides, so we test the style, not the painter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250 test paintings: 1 std of accuracy is about 3 points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Task 1: an MLP written with PyTorch primitives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566928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mlp card"/>
          <p:cNvSpPr/>
          <p:nvPr/>
        </p:nvSpPr>
        <p:spPr>
          <a:xfrm>
            <a:off x="6492240" y="1371600"/>
            <a:ext cx="512064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mlp title"/>
          <p:cNvSpPr txBox="1"/>
          <p:nvPr/>
        </p:nvSpPr>
        <p:spPr>
          <a:xfrm>
            <a:off x="6720840" y="1554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we built</a:t>
            </a:r>
            <a:endParaRPr lang="en-US" sz="1800" dirty="0"/>
          </a:p>
        </p:txBody>
      </p:sp>
      <p:sp>
        <p:nvSpPr>
          <p:cNvPr id="6" name="mlp body"/>
          <p:cNvSpPr txBox="1"/>
          <p:nvPr/>
        </p:nvSpPr>
        <p:spPr>
          <a:xfrm>
            <a:off x="6720840" y="2057400"/>
            <a:ext cx="4663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Flatten 64 x 64 x 3 -&gt; 256 -&gt; 128 -&gt; 64 -&gt; 5, ReLU, He init, Adam lr 1e-3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Training loop and best-epoch checkpoint (fit_with_best)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 accuracy </a:t>
            </a:r>
            <a:r>
              <a:rPr lang="en-US" sz="1500" b="1" dirty="0">
                <a:solidFill>
                  <a:srgbClr val="C0392B"/>
                </a:solidFill>
              </a:rPr>
              <a:t>0.356</a:t>
            </a:r>
            <a:r>
              <a:rPr lang="en-US" sz="1500" dirty="0">
                <a:solidFill>
                  <a:schemeClr val="tx1"/>
                </a:solidFill>
              </a:rPr>
              <a:t> (best val_loss epoch); </a:t>
            </a:r>
            <a:r>
              <a:rPr lang="en-US" sz="1500" b="1" dirty="0">
                <a:solidFill>
                  <a:srgbClr val="C0392B"/>
                </a:solidFill>
              </a:rPr>
              <a:t>0.424</a:t>
            </a:r>
            <a:r>
              <a:rPr lang="en-US" sz="1500" dirty="0">
                <a:solidFill>
                  <a:schemeClr val="tx1"/>
                </a:solidFill>
              </a:rPr>
              <a:t> in Chanelle's first run (last epoch), </a:t>
            </a:r>
            <a:r>
              <a:rPr lang="en-US" sz="1500" b="1" dirty="0">
                <a:solidFill>
                  <a:srgbClr val="C0392B"/>
                </a:solidFill>
              </a:rPr>
              <a:t>0.388</a:t>
            </a:r>
            <a:r>
              <a:rPr lang="en-US" sz="1500" dirty="0">
                <a:solidFill>
                  <a:schemeClr val="tx1"/>
                </a:solidFill>
              </a:rPr>
              <a:t> in an earlier run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highlight>
                  <a:srgbClr val="FFFF00"/>
                </a:highlight>
              </a:rPr>
              <a:t>Agree on one number per model and use it everywhere</a:t>
            </a:r>
            <a:endParaRPr lang="en-US" sz="1500" dirty="0"/>
          </a:p>
        </p:txBody>
      </p:sp>
      <p:sp>
        <p:nvSpPr>
          <p:cNvPr id="7" name="legend"/>
          <p:cNvSpPr txBox="1"/>
          <p:nvPr/>
        </p:nvSpPr>
        <p:spPr>
          <a:xfrm>
            <a:off x="6675120" y="64008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392B"/>
                </a:solidFill>
              </a:rPr>
              <a:t>■ </a:t>
            </a:r>
            <a:r>
              <a:rPr lang="en-US" sz="1000" dirty="0">
                <a:solidFill>
                  <a:srgbClr val="1F2430"/>
                </a:solidFill>
              </a:rPr>
              <a:t>red: differs between notebooks   </a:t>
            </a:r>
            <a:r>
              <a:rPr lang="en-US" sz="1000" dirty="0">
                <a:solidFill>
                  <a:srgbClr val="000000"/>
                </a:solidFill>
                <a:highlight>
                  <a:srgbClr val="FFFF00"/>
                </a:highlight>
              </a:rPr>
              <a:t>check</a:t>
            </a:r>
            <a:r>
              <a:rPr lang="en-US" sz="1000" dirty="0">
                <a:solidFill>
                  <a:srgbClr val="1F2430"/>
                </a:solidFill>
              </a:rPr>
              <a:t>: to verify / fill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Task 2: monitoring the training and diagnosing failures</a:t>
            </a:r>
            <a:endParaRPr lang="en-US" sz="3000" dirty="0"/>
          </a:p>
        </p:txBody>
      </p:sp>
      <p:graphicFrame>
        <p:nvGraphicFramePr>
          <p:cNvPr id="6" name="regularis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760720" cy="22860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Method (20 epochs)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best val_loss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test acc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baseline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2.457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0.364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dropout 0.2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1.543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0.356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F2430"/>
                          </a:solidFill>
                        </a:rPr>
                        <a:t>weight decay 5e-1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2.149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</a:rPr>
                        <a:t>0.392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early stopping (p = 5)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2.457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0.356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lr line"/>
          <p:cNvSpPr txBox="1"/>
          <p:nvPr/>
        </p:nvSpPr>
        <p:spPr>
          <a:xfrm>
            <a:off x="548640" y="393192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Learning rate (Adam): 1e-4: 0.384 · 1e-3: 0.364 · 1e-2: 0.172 · 1e-1: 0.144 (diverges, TP06 "Patient 1")</a:t>
            </a:r>
            <a:endParaRPr lang="en-US" sz="1400" dirty="0"/>
          </a:p>
        </p:txBody>
      </p:sp>
      <p:sp>
        <p:nvSpPr>
          <p:cNvPr id="5" name="epoch line"/>
          <p:cNvSpPr txBox="1"/>
          <p:nvPr/>
        </p:nvSpPr>
        <p:spPr>
          <a:xfrm>
            <a:off x="548640" y="475488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Which epoch to keep? min val_loss 0.356, last 0.364, max val_acc 0.376</a:t>
            </a:r>
            <a:endParaRPr lang="en-US" sz="1400" dirty="0"/>
          </a:p>
        </p:txBody>
      </p:sp>
      <p:sp>
        <p:nvSpPr>
          <p:cNvPr id="3" name="diag card"/>
          <p:cNvSpPr/>
          <p:nvPr/>
        </p:nvSpPr>
        <p:spPr>
          <a:xfrm>
            <a:off x="6583680" y="1371600"/>
            <a:ext cx="502920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diag title"/>
          <p:cNvSpPr txBox="1"/>
          <p:nvPr/>
        </p:nvSpPr>
        <p:spPr>
          <a:xfrm>
            <a:off x="681228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it tells us</a:t>
            </a:r>
            <a:endParaRPr lang="en-US" sz="1800" dirty="0"/>
          </a:p>
        </p:txBody>
      </p:sp>
      <p:sp>
        <p:nvSpPr>
          <p:cNvPr id="8" name="diag body"/>
          <p:cNvSpPr txBox="1"/>
          <p:nvPr/>
        </p:nvSpPr>
        <p:spPr>
          <a:xfrm>
            <a:off x="6812280" y="2057400"/>
            <a:ext cx="45720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Large train / validation gap: the MLP overfits (3.2 M parameters for 1 000 paintings)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Weight decay is the only method that helps loss and accuracy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C0392B"/>
                </a:solidFill>
              </a:rPr>
              <a:t>0.392 was chosen on the test set</a:t>
            </a:r>
            <a:r>
              <a:rPr lang="en-US" sz="1500" dirty="0">
                <a:solidFill>
                  <a:schemeClr val="tx1"/>
                </a:solidFill>
              </a:rPr>
              <a:t>: slightly optimistic, expect the question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C0392B"/>
                </a:solidFill>
              </a:rPr>
              <a:t>Best lr is 1e-4</a:t>
            </a:r>
            <a:r>
              <a:rPr lang="en-US" sz="1500" dirty="0">
                <a:solidFill>
                  <a:schemeClr val="tx1"/>
                </a:solidFill>
              </a:rPr>
              <a:t> but the kept model uses 1e-3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highlight>
                  <a:srgbClr val="FFFF00"/>
                </a:highlight>
              </a:rPr>
              <a:t>Add Chanelle's TP06 "patients" curves?</a:t>
            </a:r>
            <a:endParaRPr lang="en-US" sz="1500" dirty="0"/>
          </a:p>
        </p:txBody>
      </p:sp>
      <p:sp>
        <p:nvSpPr>
          <p:cNvPr id="9" name="legend"/>
          <p:cNvSpPr txBox="1"/>
          <p:nvPr/>
        </p:nvSpPr>
        <p:spPr>
          <a:xfrm>
            <a:off x="6675120" y="64008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392B"/>
                </a:solidFill>
              </a:rPr>
              <a:t>■ </a:t>
            </a:r>
            <a:r>
              <a:rPr lang="en-US" sz="1000" dirty="0">
                <a:solidFill>
                  <a:srgbClr val="1F2430"/>
                </a:solidFill>
              </a:rPr>
              <a:t>red: differs between notebooks   </a:t>
            </a:r>
            <a:r>
              <a:rPr lang="en-US" sz="1000" dirty="0">
                <a:solidFill>
                  <a:srgbClr val="000000"/>
                </a:solidFill>
                <a:highlight>
                  <a:srgbClr val="FFFF00"/>
                </a:highlight>
              </a:rPr>
              <a:t>check</a:t>
            </a:r>
            <a:r>
              <a:rPr lang="en-US" sz="1000" dirty="0">
                <a:solidFill>
                  <a:srgbClr val="1F2430"/>
                </a:solidFill>
              </a:rPr>
              <a:t>: to verify / fill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Task 4: does a classical model do the job?</a:t>
            </a:r>
            <a:endParaRPr lang="en-US" sz="3000" dirty="0"/>
          </a:p>
        </p:txBody>
      </p:sp>
      <p:sp>
        <p:nvSpPr>
          <p:cNvPr id="3" name="pix value"/>
          <p:cNvSpPr txBox="1"/>
          <p:nvPr/>
        </p:nvSpPr>
        <p:spPr>
          <a:xfrm>
            <a:off x="73152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6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0.356</a:t>
            </a:r>
            <a:endParaRPr lang="en-US" sz="4800" dirty="0"/>
          </a:p>
        </p:txBody>
      </p:sp>
      <p:sp>
        <p:nvSpPr>
          <p:cNvPr id="4" name="pix label"/>
          <p:cNvSpPr txBox="1"/>
          <p:nvPr/>
        </p:nvSpPr>
        <p:spPr>
          <a:xfrm>
            <a:off x="731520" y="2377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logistic regression on the same pixels as the MLP (12 288 features)</a:t>
            </a:r>
            <a:endParaRPr lang="en-US" sz="1400" dirty="0"/>
          </a:p>
        </p:txBody>
      </p:sp>
      <p:sp>
        <p:nvSpPr>
          <p:cNvPr id="5" name="hist value"/>
          <p:cNvSpPr txBox="1"/>
          <p:nvPr/>
        </p:nvSpPr>
        <p:spPr>
          <a:xfrm>
            <a:off x="438912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8C6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0.428</a:t>
            </a:r>
            <a:endParaRPr lang="en-US" sz="4800" dirty="0"/>
          </a:p>
        </p:txBody>
      </p:sp>
      <p:sp>
        <p:nvSpPr>
          <p:cNvPr id="6" name="hist label"/>
          <p:cNvSpPr txBox="1"/>
          <p:nvPr/>
        </p:nvSpPr>
        <p:spPr>
          <a:xfrm>
            <a:off x="4389120" y="2377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logistic regression on a colour histogram (512 features, no network)</a:t>
            </a:r>
            <a:endParaRPr lang="en-US" sz="1400" dirty="0"/>
          </a:p>
        </p:txBody>
      </p:sp>
      <p:sp>
        <p:nvSpPr>
          <p:cNvPr id="7" name="feat value"/>
          <p:cNvSpPr txBox="1"/>
          <p:nvPr/>
        </p:nvSpPr>
        <p:spPr>
          <a:xfrm>
            <a:off x="804672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0.728</a:t>
            </a:r>
            <a:endParaRPr lang="en-US" sz="4800" dirty="0"/>
          </a:p>
        </p:txBody>
      </p:sp>
      <p:sp>
        <p:nvSpPr>
          <p:cNvPr id="8" name="feat label"/>
          <p:cNvSpPr txBox="1"/>
          <p:nvPr/>
        </p:nvSpPr>
        <p:spPr>
          <a:xfrm>
            <a:off x="8046720" y="2377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logistic regression on frozen ResNet-18 features</a:t>
            </a:r>
            <a:endParaRPr lang="en-US" sz="1400" dirty="0"/>
          </a:p>
        </p:txBody>
      </p:sp>
      <p:sp>
        <p:nvSpPr>
          <p:cNvPr id="9" name="baseline card"/>
          <p:cNvSpPr/>
          <p:nvPr/>
        </p:nvSpPr>
        <p:spPr>
          <a:xfrm>
            <a:off x="731520" y="3566160"/>
            <a:ext cx="1069848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baseline title"/>
          <p:cNvSpPr txBox="1"/>
          <p:nvPr/>
        </p:nvSpPr>
        <p:spPr>
          <a:xfrm>
            <a:off x="960120" y="3749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Reading</a:t>
            </a:r>
            <a:endParaRPr lang="en-US" sz="1800" dirty="0"/>
          </a:p>
        </p:txBody>
      </p:sp>
      <p:sp>
        <p:nvSpPr>
          <p:cNvPr id="11" name="baseline body"/>
          <p:cNvSpPr txBox="1"/>
          <p:nvPr/>
        </p:nvSpPr>
        <p:spPr>
          <a:xfrm>
            <a:off x="960120" y="4251960"/>
            <a:ext cx="10241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Without a network, colour alone beats the MLP: the MLP is not worth putting on a kiosk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What makes the difference is the pretrained features, not the classifier on top: frozen ResNet + logistic regression is as good as ResNet head only (0.732)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 chosen on validation (pixels 3e-4, colours 1e-2, ResNet 1e-2)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Task 3: ResNet-18 pretrained on ImageNet</a:t>
            </a:r>
            <a:endParaRPr lang="en-US" sz="3000" dirty="0"/>
          </a:p>
        </p:txBody>
      </p:sp>
      <p:sp>
        <p:nvSpPr>
          <p:cNvPr id="3" name="stepA card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tepA title"/>
          <p:cNvSpPr txBox="1"/>
          <p:nvPr/>
        </p:nvSpPr>
        <p:spPr>
          <a:xfrm>
            <a:off x="77724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Step A: head only</a:t>
            </a:r>
            <a:endParaRPr lang="en-US" sz="1800" dirty="0"/>
          </a:p>
        </p:txBody>
      </p:sp>
      <p:sp>
        <p:nvSpPr>
          <p:cNvPr id="5" name="stepA body"/>
          <p:cNvSpPr txBox="1"/>
          <p:nvPr/>
        </p:nvSpPr>
        <p:spPr>
          <a:xfrm>
            <a:off x="777240" y="20574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New layer 512 -&gt; 5 on a frozen backbone, 2 565 trained parameters
</a:t>
            </a:r>
            <a:r>
              <a:rPr lang="en-US" sz="2000" b="1" dirty="0">
                <a:solidFill>
                  <a:srgbClr val="2A7F7A"/>
                </a:solidFill>
              </a:rPr>
              <a:t>test 0.732</a:t>
            </a:r>
            <a:endParaRPr lang="en-US" sz="1500" dirty="0"/>
          </a:p>
        </p:txBody>
      </p:sp>
      <p:sp>
        <p:nvSpPr>
          <p:cNvPr id="6" name="stepB card"/>
          <p:cNvSpPr/>
          <p:nvPr/>
        </p:nvSpPr>
        <p:spPr>
          <a:xfrm>
            <a:off x="4297680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tepB title"/>
          <p:cNvSpPr txBox="1"/>
          <p:nvPr/>
        </p:nvSpPr>
        <p:spPr>
          <a:xfrm>
            <a:off x="452628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Step B: layer4 + head</a:t>
            </a:r>
            <a:endParaRPr lang="en-US" sz="1800" dirty="0"/>
          </a:p>
        </p:txBody>
      </p:sp>
      <p:sp>
        <p:nvSpPr>
          <p:cNvPr id="8" name="stepB body"/>
          <p:cNvSpPr txBox="1"/>
          <p:nvPr/>
        </p:nvSpPr>
        <p:spPr>
          <a:xfrm>
            <a:off x="4526280" y="20574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layer4 unfrozen, lr 10x smaller, 8.4 M trained parameters
</a:t>
            </a:r>
            <a:r>
              <a:rPr lang="en-US" sz="2000" b="1" dirty="0">
                <a:solidFill>
                  <a:srgbClr val="2A7F7A"/>
                </a:solidFill>
              </a:rPr>
              <a:t>test 0.776</a:t>
            </a:r>
            <a:endParaRPr lang="en-US" sz="1500" dirty="0"/>
          </a:p>
        </p:txBody>
      </p:sp>
      <p:sp>
        <p:nvSpPr>
          <p:cNvPr id="9" name="cost card"/>
          <p:cNvSpPr/>
          <p:nvPr/>
        </p:nvSpPr>
        <p:spPr>
          <a:xfrm>
            <a:off x="8046720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cost title"/>
          <p:cNvSpPr txBox="1"/>
          <p:nvPr/>
        </p:nvSpPr>
        <p:spPr>
          <a:xfrm>
            <a:off x="827532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Cost on 1 CPU core</a:t>
            </a:r>
            <a:endParaRPr lang="en-US" sz="1800" dirty="0"/>
          </a:p>
        </p:txBody>
      </p:sp>
      <p:sp>
        <p:nvSpPr>
          <p:cNvPr id="11" name="cost body"/>
          <p:cNvSpPr txBox="1"/>
          <p:nvPr/>
        </p:nvSpPr>
        <p:spPr>
          <a:xfrm>
            <a:off x="8275320" y="20574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0392B"/>
                </a:solidFill>
              </a:rPr>
              <a:t>25.4 ms</a:t>
            </a:r>
            <a:r>
              <a:rPr lang="en-US" sz="1500" dirty="0">
                <a:solidFill>
                  <a:schemeClr val="tx1"/>
                </a:solidFill>
              </a:rPr>
              <a:t> (resnet.ipynb) vs </a:t>
            </a:r>
            <a:r>
              <a:rPr lang="en-US" sz="1500" b="1" dirty="0">
                <a:solidFill>
                  <a:srgbClr val="C0392B"/>
                </a:solidFill>
              </a:rPr>
              <a:t>23 ms</a:t>
            </a:r>
            <a:r>
              <a:rPr lang="en-US" sz="1500" dirty="0">
                <a:solidFill>
                  <a:schemeClr val="tx1"/>
                </a:solidFill>
              </a:rPr>
              <a:t> (README), 45 MB, 11.2 M parameters</a:t>
            </a:r>
            <a:endParaRPr lang="en-US" sz="1500" dirty="0"/>
          </a:p>
        </p:txBody>
      </p:sp>
      <p:sp>
        <p:nvSpPr>
          <p:cNvPr id="12" name="resnet diag card"/>
          <p:cNvSpPr/>
          <p:nvPr/>
        </p:nvSpPr>
        <p:spPr>
          <a:xfrm>
            <a:off x="548640" y="3794760"/>
            <a:ext cx="110642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resnet diag title"/>
          <p:cNvSpPr txBox="1"/>
          <p:nvPr/>
        </p:nvSpPr>
        <p:spPr>
          <a:xfrm>
            <a:off x="777240" y="39776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Diagnosis</a:t>
            </a:r>
            <a:endParaRPr lang="en-US" sz="1800" dirty="0"/>
          </a:p>
        </p:txBody>
      </p:sp>
      <p:sp>
        <p:nvSpPr>
          <p:cNvPr id="14" name="resnet diag body"/>
          <p:cNvSpPr txBox="1"/>
          <p:nvPr/>
        </p:nvSpPr>
        <p:spPr>
          <a:xfrm>
            <a:off x="777240" y="44805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Overfitting in step B: train loss 0.012 vs validation loss 0.867, early stopping keeps the best epoch (4)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Most frequent mistake: Cubism predicted as Pop Art (13 times); the MLP confused Cubism with Impressionism (30 times)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+4 points from fine-tuning, about 1 std: head only is an almost equivalent fallback that retrains in seconds</a:t>
            </a:r>
            <a:endParaRPr lang="en-US" sz="1500" dirty="0"/>
          </a:p>
        </p:txBody>
      </p:sp>
      <p:sp>
        <p:nvSpPr>
          <p:cNvPr id="15" name="legend"/>
          <p:cNvSpPr txBox="1"/>
          <p:nvPr/>
        </p:nvSpPr>
        <p:spPr>
          <a:xfrm>
            <a:off x="6675120" y="64008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392B"/>
                </a:solidFill>
              </a:rPr>
              <a:t>■ </a:t>
            </a:r>
            <a:r>
              <a:rPr lang="en-US" sz="1000" dirty="0">
                <a:solidFill>
                  <a:srgbClr val="1F2430"/>
                </a:solidFill>
              </a:rPr>
              <a:t>red: differs between notebooks   </a:t>
            </a:r>
            <a:r>
              <a:rPr lang="en-US" sz="1000" dirty="0">
                <a:solidFill>
                  <a:srgbClr val="000000"/>
                </a:solidFill>
                <a:highlight>
                  <a:srgbClr val="FFFF00"/>
                </a:highlight>
              </a:rPr>
              <a:t>check</a:t>
            </a:r>
            <a:r>
              <a:rPr lang="en-US" sz="1000" dirty="0">
                <a:solidFill>
                  <a:srgbClr val="1F2430"/>
                </a:solidFill>
              </a:rPr>
              <a:t>: to verify / fill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All models on the same 250 test paintings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80160"/>
          <a:ext cx="67665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o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371600"/>
          <a:ext cx="4023360" cy="2057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ms / image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MB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MLP 3 ReLU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1.0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12.8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MLP + w. decay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0.9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12.8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LogReg colours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0.9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0.03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ResNet-18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45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iming note"/>
          <p:cNvSpPr txBox="1"/>
          <p:nvPr/>
        </p:nvSpPr>
        <p:spPr>
          <a:xfrm>
            <a:off x="7589520" y="365760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MLP: 0.57 ms in resnet.ipynb</a:t>
            </a:r>
            <a:r>
              <a:rPr lang="en-US" sz="1300" dirty="0">
                <a:solidFill>
                  <a:schemeClr val="tx1"/>
                </a:solidFill>
              </a:rPr>
              <a:t> vs 0.9-1.0 ms in comparison.ipynb; ResNet 25.4 vs 23 ms. </a:t>
            </a:r>
            <a:r>
              <a:rPr lang="en-US" sz="1300" dirty="0">
                <a:solidFill>
                  <a:schemeClr val="tx1"/>
                </a:solidFill>
                <a:highlight>
                  <a:srgbClr val="FFFF00"/>
                </a:highlight>
              </a:rPr>
              <a:t>Use the comparison.ipynb values</a:t>
            </a:r>
            <a:endParaRPr lang="en-US" sz="1300" dirty="0"/>
          </a:p>
        </p:txBody>
      </p:sp>
      <p:sp>
        <p:nvSpPr>
          <p:cNvPr id="6" name="timing source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CPU time: 1 image, 1 core, preparation included (Colab CPU)</a:t>
            </a:r>
            <a:endParaRPr lang="en-US" sz="1100" dirty="0"/>
          </a:p>
        </p:txBody>
      </p:sp>
      <p:sp>
        <p:nvSpPr>
          <p:cNvPr id="7" name="legend"/>
          <p:cNvSpPr txBox="1"/>
          <p:nvPr/>
        </p:nvSpPr>
        <p:spPr>
          <a:xfrm>
            <a:off x="6675120" y="64008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392B"/>
                </a:solidFill>
              </a:rPr>
              <a:t>■ </a:t>
            </a:r>
            <a:r>
              <a:rPr lang="en-US" sz="1000" dirty="0">
                <a:solidFill>
                  <a:srgbClr val="1F2430"/>
                </a:solidFill>
              </a:rPr>
              <a:t>red: differs between notebooks   </a:t>
            </a:r>
            <a:r>
              <a:rPr lang="en-US" sz="1000" dirty="0">
                <a:solidFill>
                  <a:srgbClr val="000000"/>
                </a:solidFill>
                <a:highlight>
                  <a:srgbClr val="FFFF00"/>
                </a:highlight>
              </a:rPr>
              <a:t>check</a:t>
            </a:r>
            <a:r>
              <a:rPr lang="en-US" sz="1000" dirty="0">
                <a:solidFill>
                  <a:srgbClr val="1F2430"/>
                </a:solidFill>
              </a:rPr>
              <a:t>: to verify / fill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From a classifier to a museum guide</a:t>
            </a:r>
            <a:endParaRPr lang="en-US" sz="3000" dirty="0"/>
          </a:p>
        </p:txBody>
      </p:sp>
      <p:graphicFrame>
        <p:nvGraphicFramePr>
          <p:cNvPr id="10" name="tau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274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threshold τ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answered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right when it answers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0.0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100 %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0.788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0.6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93 %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0.810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F2430"/>
                          </a:solidFill>
                        </a:rPr>
                        <a:t>0.7 (kept)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F2430"/>
                          </a:solidFill>
                        </a:rPr>
                        <a:t>85 %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F2430"/>
                          </a:solidFill>
                        </a:rPr>
                        <a:t>0.836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0.8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76 %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0.869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0.9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67 %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430"/>
                          </a:solidFill>
                        </a:rPr>
                        <a:t>0.892</a:t>
                      </a:r>
                      <a:endParaRPr lang="en-US" sz="15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au note"/>
          <p:cNvSpPr txBox="1"/>
          <p:nvPr/>
        </p:nvSpPr>
        <p:spPr>
          <a:xfrm>
            <a:off x="548640" y="429768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τ chosen on validation. On test: </a:t>
            </a:r>
            <a:r>
              <a:rPr lang="en-US" sz="1400" b="1" dirty="0">
                <a:solidFill>
                  <a:srgbClr val="C0392B"/>
                </a:solidFill>
              </a:rPr>
              <a:t>83 % answered</a:t>
            </a:r>
            <a:r>
              <a:rPr lang="en-US" sz="1400" dirty="0">
                <a:solidFill>
                  <a:schemeClr val="tx1"/>
                </a:solidFill>
              </a:rPr>
              <a:t> (notebook) vs </a:t>
            </a:r>
            <a:r>
              <a:rPr lang="en-US" sz="1400" b="1" dirty="0">
                <a:solidFill>
                  <a:srgbClr val="C0392B"/>
                </a:solidFill>
              </a:rPr>
              <a:t>85 %</a:t>
            </a:r>
            <a:r>
              <a:rPr lang="en-US" sz="1400" dirty="0">
                <a:solidFill>
                  <a:schemeClr val="tx1"/>
                </a:solidFill>
              </a:rPr>
              <a:t> (README, validation)</a:t>
            </a:r>
            <a:endParaRPr lang="en-US" sz="1400" dirty="0"/>
          </a:p>
        </p:txBody>
      </p:sp>
      <p:sp>
        <p:nvSpPr>
          <p:cNvPr id="5" name="vss card"/>
          <p:cNvSpPr/>
          <p:nvPr/>
        </p:nvSpPr>
        <p:spPr>
          <a:xfrm>
            <a:off x="6492240" y="1371600"/>
            <a:ext cx="512064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vss title"/>
          <p:cNvSpPr txBox="1"/>
          <p:nvPr/>
        </p:nvSpPr>
        <p:spPr>
          <a:xfrm>
            <a:off x="6720840" y="1554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Idea borrowed from NVIDIA VSS</a:t>
            </a:r>
            <a:endParaRPr lang="en-US" sz="1800" dirty="0"/>
          </a:p>
        </p:txBody>
      </p:sp>
      <p:sp>
        <p:nvSpPr>
          <p:cNvPr id="7" name="vss body"/>
          <p:cNvSpPr txBox="1"/>
          <p:nvPr/>
        </p:nvSpPr>
        <p:spPr>
          <a:xfrm>
            <a:off x="6720840" y="2057400"/>
            <a:ext cx="4663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Guardrail: below τ the kiosk says "not sure" and shows the top 3 styles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Similar artworks: 512-d ResNet features + cosine similarity, top 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71 % of the top 5 have the same style (chance 20 %)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matrix product online, the collection is indexed offline</a:t>
            </a:r>
            <a:endParaRPr lang="en-US" sz="1500" dirty="0"/>
          </a:p>
        </p:txBody>
      </p:sp>
      <p:sp>
        <p:nvSpPr>
          <p:cNvPr id="8" name="legend"/>
          <p:cNvSpPr txBox="1"/>
          <p:nvPr/>
        </p:nvSpPr>
        <p:spPr>
          <a:xfrm>
            <a:off x="6675120" y="64008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392B"/>
                </a:solidFill>
              </a:rPr>
              <a:t>■ </a:t>
            </a:r>
            <a:r>
              <a:rPr lang="en-US" sz="1000" dirty="0">
                <a:solidFill>
                  <a:srgbClr val="1F2430"/>
                </a:solidFill>
              </a:rPr>
              <a:t>red: differs between notebooks   </a:t>
            </a:r>
            <a:r>
              <a:rPr lang="en-US" sz="1000" dirty="0">
                <a:solidFill>
                  <a:srgbClr val="000000"/>
                </a:solidFill>
                <a:highlight>
                  <a:srgbClr val="FFFF00"/>
                </a:highlight>
              </a:rPr>
              <a:t>check</a:t>
            </a:r>
            <a:r>
              <a:rPr lang="en-US" sz="1000" dirty="0">
                <a:solidFill>
                  <a:srgbClr val="1F2430"/>
                </a:solidFill>
              </a:rPr>
              <a:t>: to verify / fill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Bonus: searching the collection with words</a:t>
            </a:r>
            <a:endParaRPr lang="en-US" sz="3000" dirty="0"/>
          </a:p>
        </p:txBody>
      </p:sp>
      <p:sp>
        <p:nvSpPr>
          <p:cNvPr id="3" name="Labels step"/>
          <p:cNvSpPr/>
          <p:nvPr/>
        </p:nvSpPr>
        <p:spPr>
          <a:xfrm>
            <a:off x="54864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Labels step title"/>
          <p:cNvSpPr txBox="1"/>
          <p:nvPr/>
        </p:nvSpPr>
        <p:spPr>
          <a:xfrm>
            <a:off x="73152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1. Labels</a:t>
            </a:r>
            <a:endParaRPr lang="en-US" sz="1700" dirty="0"/>
          </a:p>
        </p:txBody>
      </p:sp>
      <p:sp>
        <p:nvSpPr>
          <p:cNvPr id="5" name="Labels step text"/>
          <p:cNvSpPr txBox="1"/>
          <p:nvPr/>
        </p:nvSpPr>
        <p:spPr>
          <a:xfrm>
            <a:off x="731520" y="196596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artist, genre, style of each painting written as one sentence</a:t>
            </a:r>
            <a:endParaRPr lang="en-US" sz="1400" dirty="0"/>
          </a:p>
        </p:txBody>
      </p:sp>
      <p:sp>
        <p:nvSpPr>
          <p:cNvPr id="6" name="Encoder step"/>
          <p:cNvSpPr/>
          <p:nvPr/>
        </p:nvSpPr>
        <p:spPr>
          <a:xfrm>
            <a:off x="338328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Encoder step title"/>
          <p:cNvSpPr txBox="1"/>
          <p:nvPr/>
        </p:nvSpPr>
        <p:spPr>
          <a:xfrm>
            <a:off x="356616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2. Encoder</a:t>
            </a:r>
            <a:endParaRPr lang="en-US" sz="1700" dirty="0"/>
          </a:p>
        </p:txBody>
      </p:sp>
      <p:sp>
        <p:nvSpPr>
          <p:cNvPr id="8" name="Encoder step text"/>
          <p:cNvSpPr txBox="1"/>
          <p:nvPr/>
        </p:nvSpPr>
        <p:spPr>
          <a:xfrm>
            <a:off x="3566160" y="196596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all-MiniLM-L6-v2, 22 M parameters, 384-d vector, no training</a:t>
            </a:r>
            <a:endParaRPr lang="en-US" sz="1400" dirty="0"/>
          </a:p>
        </p:txBody>
      </p:sp>
      <p:sp>
        <p:nvSpPr>
          <p:cNvPr id="9" name="Cosine step"/>
          <p:cNvSpPr/>
          <p:nvPr/>
        </p:nvSpPr>
        <p:spPr>
          <a:xfrm>
            <a:off x="621792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Cosine step title"/>
          <p:cNvSpPr txBox="1"/>
          <p:nvPr/>
        </p:nvSpPr>
        <p:spPr>
          <a:xfrm>
            <a:off x="640080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3. Cosine</a:t>
            </a:r>
            <a:endParaRPr lang="en-US" sz="1700" dirty="0"/>
          </a:p>
        </p:txBody>
      </p:sp>
      <p:sp>
        <p:nvSpPr>
          <p:cNvPr id="11" name="Cosine step text"/>
          <p:cNvSpPr txBox="1"/>
          <p:nvPr/>
        </p:nvSpPr>
        <p:spPr>
          <a:xfrm>
            <a:off x="6400800" y="196596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question vs 1 500 paintings, top 5</a:t>
            </a:r>
            <a:endParaRPr lang="en-US" sz="1400" dirty="0"/>
          </a:p>
        </p:txBody>
      </p:sp>
      <p:sp>
        <p:nvSpPr>
          <p:cNvPr id="12" name="Lookup step"/>
          <p:cNvSpPr/>
          <p:nvPr/>
        </p:nvSpPr>
        <p:spPr>
          <a:xfrm>
            <a:off x="905256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Lookup step title"/>
          <p:cNvSpPr txBox="1"/>
          <p:nvPr/>
        </p:nvSpPr>
        <p:spPr>
          <a:xfrm>
            <a:off x="923544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4. Lookup</a:t>
            </a:r>
            <a:endParaRPr lang="en-US" sz="1700" dirty="0"/>
          </a:p>
        </p:txBody>
      </p:sp>
      <p:sp>
        <p:nvSpPr>
          <p:cNvPr id="14" name="Lookup step text"/>
          <p:cNvSpPr txBox="1"/>
          <p:nvPr/>
        </p:nvSpPr>
        <p:spPr>
          <a:xfrm>
            <a:off x="9235440" y="196596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closest style -&gt; story told by the guide</a:t>
            </a:r>
            <a:endParaRPr lang="en-US" sz="1400" dirty="0"/>
          </a:p>
        </p:txBody>
      </p:sp>
      <p:sp>
        <p:nvSpPr>
          <p:cNvPr id="15" name="text results card"/>
          <p:cNvSpPr/>
          <p:nvPr/>
        </p:nvSpPr>
        <p:spPr>
          <a:xfrm>
            <a:off x="548640" y="3474720"/>
            <a:ext cx="1106424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results title"/>
          <p:cNvSpPr txBox="1"/>
          <p:nvPr/>
        </p:nvSpPr>
        <p:spPr>
          <a:xfrm>
            <a:off x="777240" y="36576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Results on 30 visitor questions (precision@5, chance 0.20)</a:t>
            </a:r>
            <a:endParaRPr lang="en-US" sz="1800" dirty="0"/>
          </a:p>
        </p:txBody>
      </p:sp>
      <p:sp>
        <p:nvSpPr>
          <p:cNvPr id="17" name="text results body"/>
          <p:cNvSpPr txBox="1"/>
          <p:nvPr/>
        </p:nvSpPr>
        <p:spPr>
          <a:xfrm>
            <a:off x="777240" y="416052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MiniLM </a:t>
            </a:r>
            <a:r>
              <a:rPr lang="en-US" sz="1500" b="1" dirty="0">
                <a:solidFill>
                  <a:schemeClr val="tx1"/>
                </a:solidFill>
                <a:highlight>
                  <a:srgbClr val="FFFF00"/>
                </a:highlight>
              </a:rPr>
              <a:t>x.xx</a:t>
            </a:r>
            <a:r>
              <a:rPr lang="en-US" sz="1500" dirty="0">
                <a:solidFill>
                  <a:schemeClr val="tx1"/>
                </a:solidFill>
              </a:rPr>
              <a:t> vs TF-IDF baseline </a:t>
            </a:r>
            <a:r>
              <a:rPr lang="en-US" sz="1500" b="1" dirty="0">
                <a:solidFill>
                  <a:schemeClr val="tx1"/>
                </a:solidFill>
                <a:highlight>
                  <a:srgbClr val="FFFF00"/>
                </a:highlight>
              </a:rPr>
              <a:t>x.xx</a:t>
            </a:r>
            <a:r>
              <a:rPr lang="en-US" sz="1500" dirty="0">
                <a:solidFill>
                  <a:schemeClr val="tx1"/>
                </a:solidFill>
              </a:rPr>
              <a:t> (paraphrases: </a:t>
            </a:r>
            <a:r>
              <a:rPr lang="en-US" sz="1500" b="1" dirty="0">
                <a:solidFill>
                  <a:schemeClr val="tx1"/>
                </a:solidFill>
                <a:highlight>
                  <a:srgbClr val="FFFF00"/>
                </a:highlight>
              </a:rPr>
              <a:t>x.xx</a:t>
            </a:r>
            <a:r>
              <a:rPr lang="en-US" sz="1500" dirty="0">
                <a:solidFill>
                  <a:schemeClr val="tx1"/>
                </a:solidFill>
              </a:rPr>
              <a:t> vs </a:t>
            </a:r>
            <a:r>
              <a:rPr lang="en-US" sz="1500" b="1" dirty="0">
                <a:solidFill>
                  <a:schemeClr val="tx1"/>
                </a:solidFill>
                <a:highlight>
                  <a:srgbClr val="FFFF00"/>
                </a:highlight>
              </a:rPr>
              <a:t>x.xx</a:t>
            </a:r>
            <a:r>
              <a:rPr lang="en-US" sz="1500" dirty="0">
                <a:solidFill>
                  <a:schemeClr val="tx1"/>
                </a:solidFill>
              </a:rPr>
              <a:t>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Cost: </a:t>
            </a:r>
            <a:r>
              <a:rPr lang="en-US" sz="1500" b="1" dirty="0">
                <a:solidFill>
                  <a:schemeClr val="tx1"/>
                </a:solidFill>
                <a:highlight>
                  <a:srgbClr val="FFFF00"/>
                </a:highlight>
              </a:rPr>
              <a:t>xx ms</a:t>
            </a:r>
            <a:r>
              <a:rPr lang="en-US" sz="1500" dirty="0">
                <a:solidFill>
                  <a:schemeClr val="tx1"/>
                </a:solidFill>
              </a:rPr>
              <a:t> per question on 1 core, about 90 MB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2-D projection + K-means: clusters match the styles, ARI </a:t>
            </a:r>
            <a:r>
              <a:rPr lang="en-US" sz="1500" b="1" dirty="0">
                <a:solidFill>
                  <a:schemeClr val="tx1"/>
                </a:solidFill>
                <a:highlight>
                  <a:srgbClr val="FFFF00"/>
                </a:highlight>
              </a:rPr>
              <a:t>x.xx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highlight>
                  <a:srgbClr val="FFFF00"/>
                </a:highlight>
              </a:rPr>
              <a:t>Fill from the last cell of notebook/text_search.ipynb, or drop the slide</a:t>
            </a:r>
            <a:endParaRPr lang="en-US" sz="1500" dirty="0"/>
          </a:p>
        </p:txBody>
      </p:sp>
      <p:sp>
        <p:nvSpPr>
          <p:cNvPr id="18" name="legend"/>
          <p:cNvSpPr txBox="1"/>
          <p:nvPr/>
        </p:nvSpPr>
        <p:spPr>
          <a:xfrm>
            <a:off x="6675120" y="64008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392B"/>
                </a:solidFill>
              </a:rPr>
              <a:t>■ </a:t>
            </a:r>
            <a:r>
              <a:rPr lang="en-US" sz="1000" dirty="0">
                <a:solidFill>
                  <a:srgbClr val="1F2430"/>
                </a:solidFill>
              </a:rPr>
              <a:t>red: differs between notebooks   </a:t>
            </a:r>
            <a:r>
              <a:rPr lang="en-US" sz="1000" dirty="0">
                <a:solidFill>
                  <a:srgbClr val="000000"/>
                </a:solidFill>
                <a:highlight>
                  <a:srgbClr val="FFFF00"/>
                </a:highlight>
              </a:rPr>
              <a:t>check</a:t>
            </a:r>
            <a:r>
              <a:rPr lang="en-US" sz="1000" dirty="0">
                <a:solidFill>
                  <a:srgbClr val="1F2430"/>
                </a:solidFill>
              </a:rPr>
              <a:t>: to verify / fill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Recommendation: fine-tuned ResNet-18 with a confidence guardrail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Right about 3 times out of 4, 84 % when it answers; 23-25 ms and 45 MB on a kiosk CPU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Head-only ResNet as a fallback: almost as good, retrains in seconds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Limits: 250 test paintings, 5 well-separated styles, no test on real photos taken in the galleries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To fix before the oral: numbers that do not match</a:t>
            </a:r>
            <a:endParaRPr lang="en-US" sz="3000" dirty="0"/>
          </a:p>
        </p:txBody>
      </p:sp>
      <p:graphicFrame>
        <p:nvGraphicFramePr>
          <p:cNvPr id="13" name="mismatc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Where it differs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Suggestion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Best MLP accuracy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resnet.ipynb compares with 0.356, README and comparison use 0.392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use 0.392, say it was chosen on test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MLP CPU time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0.57 ms (resnet.ipynb) vs 1.0 / 0.9 ms (README, comparison)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use comparison.ipynb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ResNet CPU time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25.4 ms (resnet.ipynb) vs 23 ms (README)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use comparison.ipynb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Guardrail τ = 0.7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83 % answered on test (notebook) vs 85 % on validation (README)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say which set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Learning rate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1e-4 recommended, kept model uses 1e-3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explain or rerun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Task 1 MLP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0.356 (best val_loss) vs 0.424 / 0.388 (last epoch)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explain the selection criterion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seum Guide">
  <a:themeElements>
    <a:clrScheme name="Museum Guide">
      <a:dk1>
        <a:srgbClr val="1F2430"/>
      </a:dk1>
      <a:lt1>
        <a:srgbClr val="FFFFFF"/>
      </a:lt1>
      <a:dk2>
        <a:srgbClr val="2B3A55"/>
      </a:dk2>
      <a:lt2>
        <a:srgbClr val="EEF1F5"/>
      </a:lt2>
      <a:accent1>
        <a:srgbClr val="2A7F7A"/>
      </a:accent1>
      <a:accent2>
        <a:srgbClr val="8C6D46"/>
      </a:accent2>
      <a:accent3>
        <a:srgbClr val="6B7A99"/>
      </a:accent3>
      <a:accent4>
        <a:srgbClr val="B9C3D3"/>
      </a:accent4>
      <a:accent5>
        <a:srgbClr val="C0392B"/>
      </a:accent5>
      <a:accent6>
        <a:srgbClr val="F2C14E"/>
      </a:accent6>
      <a:hlink>
        <a:srgbClr val="2A7F7A"/>
      </a:hlink>
      <a:folHlink>
        <a:srgbClr val="6B7A99"/>
      </a:folHlink>
    </a:clrScheme>
    <a:fontScheme name="Museum Gui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1675</Words>
  <Application>Microsoft Macintosh PowerPoint</Application>
  <PresentationFormat>Grand écran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Museum Guide</vt:lpstr>
      <vt:lpstr>Museum guide: is a neural network worth it on a kiosk?</vt:lpstr>
      <vt:lpstr>Our answer: yes, but a pretrained network, not the MLP</vt:lpstr>
      <vt:lpstr>Data: 1 500 WikiArt paintings, split by artist</vt:lpstr>
      <vt:lpstr>Task 1: an MLP written with PyTorch primitives</vt:lpstr>
      <vt:lpstr>Task 2: monitoring the training and diagnosing failures</vt:lpstr>
      <vt:lpstr>Task 4: does a classical model do the job?</vt:lpstr>
      <vt:lpstr>Task 3: ResNet-18 pretrained on ImageNet</vt:lpstr>
      <vt:lpstr>All models on the same 250 test paintings</vt:lpstr>
      <vt:lpstr>From a classifier to a museum guide</vt:lpstr>
      <vt:lpstr>Bonus: searching the collection with words</vt:lpstr>
      <vt:lpstr>Recommendation: fine-tuned ResNet-18 with a confidence guardrail</vt:lpstr>
      <vt:lpstr>To fix before the oral: numbers that do not match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Museum guide: is a neural network worth it?</dc:title>
  <dc:subject>PptxGenJS Presentation</dc:subject>
  <dc:creator>Chanelle, Luli, Wei-Ling, Rania</dc:creator>
  <cp:lastModifiedBy>SANCHEZ Chanelle</cp:lastModifiedBy>
  <cp:revision>1</cp:revision>
  <dcterms:created xsi:type="dcterms:W3CDTF">2026-10-26T12:41:34Z</dcterms:created>
  <dcterms:modified xsi:type="dcterms:W3CDTF">2026-10-26T12:48:57Z</dcterms:modified>
</cp:coreProperties>
</file>